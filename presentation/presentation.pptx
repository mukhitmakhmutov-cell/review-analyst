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3774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Review 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Segoe UI"/>
              </a:rPr>
              <a:t>Гибридный проект ML + AI: анализ тональности отзывов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4F46E5"/>
                </a:solidFill>
                <a:latin typeface="Segoe UI"/>
              </a:rPr>
              <a:t>Проблема</a:t>
            </a:r>
          </a:p>
          <a:p>
            <a:pPr algn="l"/>
            <a:r>
              <a:rPr sz="6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700" b="0">
                <a:solidFill>
                  <a:srgbClr val="171C2B"/>
                </a:solidFill>
                <a:latin typeface="Segoe UI"/>
              </a:rPr>
              <a:t>Бизнес получает тысячи отзывов, но не может быстро понять, </a:t>
            </a:r>
            <a:r>
              <a:rPr sz="1700" b="1">
                <a:solidFill>
                  <a:srgbClr val="E74C3C"/>
                </a:solidFill>
                <a:latin typeface="Segoe UI"/>
              </a:rPr>
              <a:t>что именно не так</a:t>
            </a:r>
            <a:r>
              <a:rPr sz="1700" b="0">
                <a:solidFill>
                  <a:srgbClr val="171C2B"/>
                </a:solidFill>
                <a:latin typeface="Segoe UI"/>
              </a:rPr>
              <a:t> и что делать.</a:t>
            </a:r>
          </a:p>
          <a:p>
            <a:pPr algn="l"/>
            <a:r>
              <a:rPr sz="6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2200" b="1">
                <a:solidFill>
                  <a:srgbClr val="4F46E5"/>
                </a:solidFill>
                <a:latin typeface="Segoe UI"/>
              </a:rPr>
              <a:t>Решение</a:t>
            </a:r>
          </a:p>
          <a:p>
            <a:pPr algn="l"/>
            <a:r>
              <a:rPr sz="6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700" b="0">
                <a:solidFill>
                  <a:srgbClr val="171C2B"/>
                </a:solidFill>
                <a:latin typeface="Segoe UI"/>
              </a:rPr>
              <a:t>ML-модель классифицирует каждый отзыв (негатив / нейтрал / позитив), </a:t>
            </a:r>
            <a:r>
              <a:rPr sz="1700" b="1">
                <a:solidFill>
                  <a:srgbClr val="7C3AED"/>
                </a:solidFill>
                <a:latin typeface="Segoe UI"/>
              </a:rPr>
              <a:t>а LLM превращает негатив в готовый бизнес-отчёт</a:t>
            </a:r>
            <a:r>
              <a:rPr sz="1700" b="0">
                <a:solidFill>
                  <a:srgbClr val="171C2B"/>
                </a:solidFill>
                <a:latin typeface="Segoe UI"/>
              </a:rPr>
              <a:t> с конкретными рекомендациями.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Data Science &amp; AI · Итоговый проект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Segoe UI"/>
              </a:rPr>
              <a:t>Yelp reviews (HuggingFace) · 3 класса тональности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651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4F46E5"/>
                </a:solidFill>
                <a:latin typeface="Segoe UI"/>
              </a:rPr>
              <a:t>30 000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Segoe UI"/>
              </a:rPr>
              <a:t>отзывов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651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96596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7C3AED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6974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Segoe UI"/>
              </a:rPr>
              <a:t>класса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2651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96596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2ECC71"/>
                </a:solidFill>
                <a:latin typeface="Segoe UI"/>
              </a:rPr>
              <a:t>10 000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6974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Segoe UI"/>
              </a:rPr>
              <a:t>на класс (баланс)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828800"/>
            <a:ext cx="2651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6596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6B7280"/>
                </a:solidFill>
                <a:latin typeface="Segoe UI"/>
              </a:rPr>
              <a:t>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6974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Segoe UI"/>
              </a:rPr>
              <a:t>язык отзывов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6616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4F46E5"/>
                </a:solidFill>
                <a:latin typeface="Segoe UI"/>
              </a:rPr>
              <a:t>Ключевые наблюдения из EDA</a:t>
            </a:r>
          </a:p>
          <a:p>
            <a:pPr algn="l"/>
            <a:r>
              <a:rPr sz="6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1–2★ → негатив,  3★ → нейтрал,  4–5★ → позитив (3-классовая задача)</a:t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Длина отзывов: медиана ~130 слов, есть очень короткие и очень длинные</a:t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Классы сбалансированы → можно оптимизировать F1 macro без весов</a:t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Случайная выборка из 650k — чтобы не было кластеров по бизнесам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Подход и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Segoe UI"/>
              </a:rPr>
              <a:t>Baseline → улучшение → сравнение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72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71C2B"/>
                </a:solidFill>
                <a:latin typeface="Segoe UI"/>
              </a:rPr>
              <a:t>Текст  →  TF-IDF (биграммы)  →  Классификатор  →  вероятности по 3 классам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972800" cy="566928"/>
          </a:xfrm>
          <a:prstGeom prst="roundRect">
            <a:avLst/>
          </a:prstGeom>
          <a:solidFill>
            <a:srgbClr val="EEF0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6858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4F46E5"/>
                </a:solidFill>
                <a:latin typeface="Segoe UI"/>
              </a:rPr>
              <a:t>Модель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834640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4F46E5"/>
                </a:solidFill>
                <a:latin typeface="Segoe UI"/>
              </a:rPr>
              <a:t>F1 macro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2834640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4F46E5"/>
                </a:solidFill>
                <a:latin typeface="Segoe UI"/>
              </a:rPr>
              <a:t>ROC AUC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972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01568"/>
            <a:ext cx="6858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71C2B"/>
                </a:solidFill>
                <a:latin typeface="Segoe UI"/>
              </a:rPr>
              <a:t>Naive Bayes (униграммы, baseline)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401568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71C2B"/>
                </a:solidFill>
                <a:latin typeface="Segoe UI"/>
              </a:rPr>
              <a:t>0.661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3401568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71C2B"/>
                </a:solidFill>
                <a:latin typeface="Segoe UI"/>
              </a:rPr>
              <a:t>0.843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68496"/>
            <a:ext cx="10972800" cy="566928"/>
          </a:xfrm>
          <a:prstGeom prst="roundRect">
            <a:avLst/>
          </a:prstGeom>
          <a:solidFill>
            <a:srgbClr val="FBFBFE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68496"/>
            <a:ext cx="6858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71C2B"/>
                </a:solidFill>
                <a:latin typeface="Segoe UI"/>
              </a:rPr>
              <a:t>XGBoost (биграммы, GPU)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968496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71C2B"/>
                </a:solidFill>
                <a:latin typeface="Segoe UI"/>
              </a:rPr>
              <a:t>0.706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968496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71C2B"/>
                </a:solidFill>
                <a:latin typeface="Segoe UI"/>
              </a:rPr>
              <a:t>0.872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35424"/>
            <a:ext cx="10972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35424"/>
            <a:ext cx="6858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71C2B"/>
                </a:solidFill>
                <a:latin typeface="Segoe UI"/>
              </a:rPr>
              <a:t>Logistic Regression (биграммы)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535424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71C2B"/>
                </a:solidFill>
                <a:latin typeface="Segoe UI"/>
              </a:rPr>
              <a:t>0.735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535424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71C2B"/>
                </a:solidFill>
                <a:latin typeface="Segoe UI"/>
              </a:rPr>
              <a:t>0.891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02352"/>
            <a:ext cx="10972800" cy="566928"/>
          </a:xfrm>
          <a:prstGeom prst="roundRect">
            <a:avLst/>
          </a:prstGeom>
          <a:solidFill>
            <a:srgbClr val="EEF0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102352"/>
            <a:ext cx="6858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4F46E5"/>
                </a:solidFill>
                <a:latin typeface="Segoe UI"/>
              </a:rPr>
              <a:t>LinearSVC (биграммы, calibrated)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102352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4F46E5"/>
                </a:solidFill>
                <a:latin typeface="Segoe UI"/>
              </a:rPr>
              <a:t>0.744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102352"/>
            <a:ext cx="1645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4F46E5"/>
                </a:solidFill>
                <a:latin typeface="Segoe UI"/>
              </a:rPr>
              <a:t>0.894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4F46E5"/>
                </a:solidFill>
                <a:latin typeface="Segoe UI"/>
              </a:rPr>
              <a:t>Вывод: </a:t>
            </a:r>
            <a:r>
              <a:rPr sz="1500" b="0">
                <a:solidFill>
                  <a:srgbClr val="171C2B"/>
                </a:solidFill>
                <a:latin typeface="Segoe UI"/>
              </a:rPr>
              <a:t>на разреженных TF-IDF линейные модели обгоняют градиентный бустинг — </a:t>
            </a:r>
            <a:r>
              <a:rPr sz="1500" b="0">
                <a:solidFill>
                  <a:srgbClr val="171C2B"/>
                </a:solidFill>
                <a:latin typeface="Segoe UI"/>
              </a:rPr>
              <a:t>XGBoost переобучается на высокоразмерных бинарных признаках.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Демо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Segoe UI"/>
              </a:rPr>
              <a:t>FastAPI + веб-интерфейс · загрузка файла → ML → LLM-отчёт</a:t>
            </a:r>
          </a:p>
        </p:txBody>
      </p:sp>
      <p:pic>
        <p:nvPicPr>
          <p:cNvPr id="5" name="Picture 4" descr="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22592" cy="4937760"/>
          </a:xfrm>
          <a:prstGeom prst="rect">
            <a:avLst/>
          </a:prstGeom>
        </p:spPr>
      </p:pic>
      <p:pic>
        <p:nvPicPr>
          <p:cNvPr id="6" name="Picture 5" descr="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17320"/>
            <a:ext cx="2241755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F46E5"/>
                </a:solidFill>
                <a:latin typeface="Segoe UI"/>
              </a:rPr>
              <a:t>Как это работает</a:t>
            </a:r>
          </a:p>
          <a:p>
            <a:pPr algn="l"/>
            <a:r>
              <a:rPr sz="6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71C2B"/>
                </a:solidFill>
                <a:latin typeface="Segoe UI"/>
              </a:rPr>
              <a:t>1.  Пользователь вставляет отзывы или перетаскивает файл (.txt/.csv/.jsonl/.json)</a:t>
            </a:r>
          </a:p>
          <a:p>
            <a:pPr algn="l"/>
            <a:r>
              <a:rPr sz="4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71C2B"/>
                </a:solidFill>
                <a:latin typeface="Segoe UI"/>
              </a:rPr>
              <a:t>2.  ML-модель классифицирует каждый отзыв и даёт вероятности</a:t>
            </a:r>
          </a:p>
          <a:p>
            <a:pPr algn="l"/>
            <a:r>
              <a:rPr sz="4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71C2B"/>
                </a:solidFill>
                <a:latin typeface="Segoe UI"/>
              </a:rPr>
              <a:t>3.  LLM читает негатив и пишет отчёт: жалобы + рекомендации</a:t>
            </a:r>
          </a:p>
          <a:p>
            <a:pPr algn="l"/>
            <a:r>
              <a:rPr sz="4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400" b="0">
                <a:solidFill>
                  <a:srgbClr val="171C2B"/>
                </a:solidFill>
                <a:latin typeface="Segoe UI"/>
              </a:rPr>
              <a:t>4.  Всё рендерится в браузере (Markdown)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4F46E5"/>
                </a:solidFill>
                <a:latin typeface="Segoe UI"/>
              </a:rPr>
              <a:t>Что получилось</a:t>
            </a:r>
          </a:p>
          <a:p>
            <a:pPr algn="l"/>
            <a:r>
              <a:rPr sz="5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Рабочая модель: F1 macro 0.744, ROC AUC 0.894 (лучшая из 4)</a:t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Гибридный продукт: ML-классификация + LLM-отчёт на русском</a:t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Веб-интерфейс с загрузкой файлов и валидацией</a:t>
            </a:r>
          </a:p>
          <a:p>
            <a:pPr algn="l"/>
            <a:r>
              <a:rPr sz="8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2000" b="1">
                <a:solidFill>
                  <a:srgbClr val="4F46E5"/>
                </a:solidFill>
                <a:latin typeface="Segoe UI"/>
              </a:rPr>
              <a:t>Что было сложно</a:t>
            </a:r>
          </a:p>
          <a:p>
            <a:pPr algn="l"/>
            <a:r>
              <a:rPr sz="5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LLM — thinking-модель: без отключения «размышлений» content приходит пустым</a:t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XGBoost на GPU: пришлось обёртывать метки (int) и подбирать параметры</a:t>
            </a:r>
          </a:p>
          <a:p>
            <a:pPr algn="l"/>
            <a:r>
              <a:rPr sz="8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2000" b="1">
                <a:solidFill>
                  <a:srgbClr val="4F46E5"/>
                </a:solidFill>
                <a:latin typeface="Segoe UI"/>
              </a:rPr>
              <a:t>Что улучшил бы при большем времени</a:t>
            </a:r>
          </a:p>
          <a:p>
            <a:pPr algn="l"/>
            <a:r>
              <a:rPr sz="500" b="0">
                <a:solidFill>
                  <a:srgbClr val="171C2B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Обучить модель на русскоязычных отзывах (сейчас ML — только EN)</a:t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Fine-tuning небольшой трансформер для более высокой точности</a:t>
            </a:r>
          </a:p>
          <a:p>
            <a:pPr algn="l"/>
            <a:r>
              <a:rPr sz="1600" b="0">
                <a:solidFill>
                  <a:srgbClr val="171C2B"/>
                </a:solidFill>
                <a:latin typeface="Segoe UI"/>
              </a:rPr>
              <a:t>•  RAG: LLM ссылалась бы на базу знаний о заведении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