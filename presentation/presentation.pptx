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3774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"/>
              </a:rPr>
              <a:t>Review 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Segoe UI"/>
              </a:rPr>
              <a:t>Гибридный проект ML + AI: анализ тональности отзывов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Segoe UI"/>
              </a:rPr>
              <a:t>Проблема</a:t>
            </a:r>
          </a:p>
          <a:p>
            <a:pPr algn="l"/>
            <a:r>
              <a:rPr sz="6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1700" b="0">
                <a:solidFill>
                  <a:srgbClr val="171C2B"/>
                </a:solidFill>
                <a:latin typeface="Segoe UI"/>
              </a:rPr>
              <a:t>Бизнес получает тысячи отзывов, но не может быстро понять, </a:t>
            </a:r>
            <a:r>
              <a:rPr sz="1700" b="1">
                <a:solidFill>
                  <a:srgbClr val="E74C3C"/>
                </a:solidFill>
                <a:latin typeface="Segoe UI"/>
              </a:rPr>
              <a:t>что именно не так</a:t>
            </a:r>
            <a:r>
              <a:rPr sz="1700" b="0">
                <a:solidFill>
                  <a:srgbClr val="171C2B"/>
                </a:solidFill>
                <a:latin typeface="Segoe UI"/>
              </a:rPr>
              <a:t> и что делать.</a:t>
            </a:r>
          </a:p>
          <a:p>
            <a:pPr algn="l"/>
            <a:r>
              <a:rPr sz="6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2200" b="1">
                <a:solidFill>
                  <a:srgbClr val="4F46E5"/>
                </a:solidFill>
                <a:latin typeface="Segoe UI"/>
              </a:rPr>
              <a:t>Решение</a:t>
            </a:r>
          </a:p>
          <a:p>
            <a:pPr algn="l"/>
            <a:r>
              <a:rPr sz="6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1700" b="0">
                <a:solidFill>
                  <a:srgbClr val="171C2B"/>
                </a:solidFill>
                <a:latin typeface="Segoe UI"/>
              </a:rPr>
              <a:t>Мультиязычная ML-модель (EN/RU/KZ) классифицирует каждый отзыв </a:t>
            </a:r>
            <a:r>
              <a:rPr sz="1700" b="1">
                <a:solidFill>
                  <a:srgbClr val="7C3AED"/>
                </a:solidFill>
                <a:latin typeface="Segoe UI"/>
              </a:rPr>
              <a:t>(негатив / нейтрал / позитив), а LLM превращает негатив в готовый бизнес-отчёт</a:t>
            </a:r>
            <a:r>
              <a:rPr sz="1700" b="0">
                <a:solidFill>
                  <a:srgbClr val="171C2B"/>
                </a:solidFill>
                <a:latin typeface="Segoe UI"/>
              </a:rPr>
              <a:t> с конкретными рекомендациями.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Segoe UI"/>
              </a:rPr>
              <a:t>Data Science &amp; AI · Итоговый проект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Данные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Segoe UI"/>
              </a:rPr>
              <a:t>Yelp (EN) + rureviews / MultiLingualSentiment (RU) + Kazakh reviews (KZ) · 3 класса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4F46E5"/>
                </a:solidFill>
                <a:latin typeface="Segoe UI"/>
              </a:rPr>
              <a:t>30 859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Segoe UI"/>
              </a:rPr>
              <a:t>отзывов (train)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96596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7C3AED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6974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Segoe UI"/>
              </a:rPr>
              <a:t>языка: EN · RU · KZ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96596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2ECC71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6974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Segoe UI"/>
              </a:rPr>
              <a:t>класса (баланс)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828800"/>
            <a:ext cx="2651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65960"/>
            <a:ext cx="2651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>
                <a:solidFill>
                  <a:srgbClr val="6B7280"/>
                </a:solidFill>
                <a:latin typeface="Segoe UI"/>
              </a:rPr>
              <a:t>4 250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6974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6B7280"/>
                </a:solidFill>
                <a:latin typeface="Segoe UI"/>
              </a:rPr>
              <a:t>отзывов (test)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109728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Segoe UI"/>
              </a:rPr>
              <a:t>Ключевые наблюдения</a:t>
            </a:r>
          </a:p>
          <a:p>
            <a:pPr algn="l"/>
            <a:r>
              <a:rPr sz="6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EN: 1–2★ → негатив, 3★ → нейтрал, 4–5★ → позитив; классы сбалансированы</a:t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RU: 90k товарных отзывов (rureviews) + общедоменные (рестораны/организации)</a:t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KZ: только 1 250 открытых отзывов (развлечения) — большие датасеты gated</a:t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RU test — только общедоменные отзывы: это реальный сценарий приложения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Подход и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Segoe UI"/>
              </a:rPr>
              <a:t>Классические модели (EN) → мультиязычный трансформер (рабочая модель)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72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71C2B"/>
                </a:solidFill>
                <a:latin typeface="Segoe UI"/>
              </a:rPr>
              <a:t>Текст  →  DistilBERT multilingual (fine-tuned, sentiment-база)  →  вероятности по 3 классам  →  LLM-отчёт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88920"/>
            <a:ext cx="10972800" cy="50292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Segoe UI"/>
              </a:rPr>
              <a:t>Модель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78892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F46E5"/>
                </a:solidFill>
                <a:latin typeface="Segoe UI"/>
              </a:rPr>
              <a:t>F1 macro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78892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F46E5"/>
                </a:solidFill>
                <a:latin typeface="Segoe UI"/>
              </a:rPr>
              <a:t>ROC 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291840"/>
            <a:ext cx="10972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9184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71C2B"/>
                </a:solidFill>
                <a:latin typeface="Segoe UI"/>
              </a:rPr>
              <a:t>Naive Bayes (униграммы, baseline, EN)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29184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71C2B"/>
                </a:solidFill>
                <a:latin typeface="Segoe UI"/>
              </a:rPr>
              <a:t>0.661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29184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71C2B"/>
                </a:solidFill>
                <a:latin typeface="Segoe UI"/>
              </a:rPr>
              <a:t>0.843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94760"/>
            <a:ext cx="10972800" cy="502920"/>
          </a:xfrm>
          <a:prstGeom prst="roundRect">
            <a:avLst/>
          </a:prstGeom>
          <a:solidFill>
            <a:srgbClr val="FBFBFE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9476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71C2B"/>
                </a:solidFill>
                <a:latin typeface="Segoe UI"/>
              </a:rPr>
              <a:t>XGBoost (биграммы, GPU, EN)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379476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71C2B"/>
                </a:solidFill>
                <a:latin typeface="Segoe UI"/>
              </a:rPr>
              <a:t>0.706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79476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71C2B"/>
                </a:solidFill>
                <a:latin typeface="Segoe UI"/>
              </a:rPr>
              <a:t>0.872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297680"/>
            <a:ext cx="1097280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29768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71C2B"/>
                </a:solidFill>
                <a:latin typeface="Segoe UI"/>
              </a:rPr>
              <a:t>Logistic Regression (биграммы, EN)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29768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71C2B"/>
                </a:solidFill>
                <a:latin typeface="Segoe UI"/>
              </a:rPr>
              <a:t>0.735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429768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71C2B"/>
                </a:solidFill>
                <a:latin typeface="Segoe UI"/>
              </a:rPr>
              <a:t>0.891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00600"/>
            <a:ext cx="10972800" cy="502920"/>
          </a:xfrm>
          <a:prstGeom prst="roundRect">
            <a:avLst/>
          </a:prstGeom>
          <a:solidFill>
            <a:srgbClr val="FBFBFE"/>
          </a:solidFill>
          <a:ln w="12700">
            <a:solidFill>
              <a:srgbClr val="E5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80060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171C2B"/>
                </a:solidFill>
                <a:latin typeface="Segoe UI"/>
              </a:rPr>
              <a:t>LinearSVC (биграммы, calibrated, EN)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48006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71C2B"/>
                </a:solidFill>
                <a:latin typeface="Segoe UI"/>
              </a:rPr>
              <a:t>0.744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80060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171C2B"/>
                </a:solidFill>
                <a:latin typeface="Segoe UI"/>
              </a:rPr>
              <a:t>0.894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303520"/>
            <a:ext cx="10972800" cy="502920"/>
          </a:xfrm>
          <a:prstGeom prst="roundRect">
            <a:avLst/>
          </a:prstGeom>
          <a:solidFill>
            <a:srgbClr val="EEF0FF"/>
          </a:solidFill>
          <a:ln w="12700">
            <a:solidFill>
              <a:srgbClr val="4F46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303520"/>
            <a:ext cx="6858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Segoe UI"/>
              </a:rPr>
              <a:t>DistilBERT multilingual (fine-tuned, EN/RU/KZ)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30352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F46E5"/>
                </a:solidFill>
                <a:latin typeface="Segoe UI"/>
              </a:rPr>
              <a:t>0.764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5303520"/>
            <a:ext cx="1645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4F46E5"/>
                </a:solidFill>
                <a:latin typeface="Segoe UI"/>
              </a:rPr>
              <a:t>0.906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978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Segoe UI"/>
              </a:rPr>
              <a:t>Вывод: </a:t>
            </a:r>
            <a:r>
              <a:rPr sz="1500" b="0">
                <a:solidFill>
                  <a:srgbClr val="171C2B"/>
                </a:solidFill>
                <a:latin typeface="Segoe UI"/>
              </a:rPr>
              <a:t>TF-IDF-модели не понимают RU/KZ (~40% — случайный уровень), поэтому рабочая модель — </a:t>
            </a:r>
            <a:r>
              <a:rPr sz="1500" b="1">
                <a:solidFill>
                  <a:srgbClr val="171C2B"/>
                </a:solidFill>
                <a:latin typeface="Segoe UI"/>
              </a:rPr>
              <a:t>fine-tuned трансформер: RU F1 0.814, overall 0.764.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Демо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Segoe UI"/>
              </a:rPr>
              <a:t>FastAPI + веб-интерфейс · загрузка файла → ML → LLM-отчёт</a:t>
            </a:r>
          </a:p>
        </p:txBody>
      </p:sp>
      <p:pic>
        <p:nvPicPr>
          <p:cNvPr id="5" name="Picture 4" descr="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022592" cy="4937760"/>
          </a:xfrm>
          <a:prstGeom prst="rect">
            <a:avLst/>
          </a:prstGeom>
        </p:spPr>
      </p:pic>
      <p:pic>
        <p:nvPicPr>
          <p:cNvPr id="6" name="Picture 5" descr="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417320"/>
            <a:ext cx="276251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737360"/>
            <a:ext cx="356616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F46E5"/>
                </a:solidFill>
                <a:latin typeface="Segoe UI"/>
              </a:rPr>
              <a:t>Как это работает</a:t>
            </a:r>
          </a:p>
          <a:p>
            <a:pPr algn="l"/>
            <a:r>
              <a:rPr sz="6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171C2B"/>
                </a:solidFill>
                <a:latin typeface="Segoe UI"/>
              </a:rPr>
              <a:t>1.  Пользователь вставляет отзывы или перетаскивает файл (.txt/.csv/.jsonl/.json)</a:t>
            </a:r>
          </a:p>
          <a:p>
            <a:pPr algn="l"/>
            <a:r>
              <a:rPr sz="4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171C2B"/>
                </a:solidFill>
                <a:latin typeface="Segoe UI"/>
              </a:rPr>
              <a:t>2.  ML-модель классифицирует каждый отзыв и даёт вероятности</a:t>
            </a:r>
          </a:p>
          <a:p>
            <a:pPr algn="l"/>
            <a:r>
              <a:rPr sz="4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171C2B"/>
                </a:solidFill>
                <a:latin typeface="Segoe UI"/>
              </a:rPr>
              <a:t>3.  LLM читает негатив и пишет отчёт: жалобы + рекомендации</a:t>
            </a:r>
          </a:p>
          <a:p>
            <a:pPr algn="l"/>
            <a:r>
              <a:rPr sz="4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1400" b="0">
                <a:solidFill>
                  <a:srgbClr val="171C2B"/>
                </a:solidFill>
                <a:latin typeface="Segoe UI"/>
              </a:rPr>
              <a:t>4.  Всё рендерится в браузере (Markdown)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515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Выводы и что дальше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F46E5"/>
                </a:solidFill>
                <a:latin typeface="Segoe UI"/>
              </a:rPr>
              <a:t>Что получилось</a:t>
            </a:r>
          </a:p>
          <a:p>
            <a:pPr algn="l"/>
            <a:r>
              <a:rPr sz="5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Рабочая модель: fine-tuned мультиязычный DistilBERT — F1 0.764 overall, RU 0.814</a:t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Гибридный продукт: ML-классификация (EN/RU/KZ) + LLM-отчёт на русском</a:t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Веб-интерфейс: файлы, ручной ввод, генерация примера через LLM</a:t>
            </a:r>
          </a:p>
          <a:p>
            <a:pPr algn="l"/>
            <a:r>
              <a:rPr sz="8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2000" b="1">
                <a:solidFill>
                  <a:srgbClr val="4F46E5"/>
                </a:solidFill>
                <a:latin typeface="Segoe UI"/>
              </a:rPr>
              <a:t>Что было сложно</a:t>
            </a:r>
          </a:p>
          <a:p>
            <a:pPr algn="l"/>
            <a:r>
              <a:rPr sz="5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Обычный MLM-трансформер схлопывал всё в «нейтрал» — спасла sentiment-база + её голова</a:t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LLM — thinking-модель: без отключения «размышлений» content приходит пустым</a:t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KZ: открытых бизнес-отзывов нет — только 1 250 (развлечения), метрики завышены</a:t>
            </a:r>
          </a:p>
          <a:p>
            <a:pPr algn="l"/>
            <a:r>
              <a:rPr sz="8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2000" b="1">
                <a:solidFill>
                  <a:srgbClr val="4F46E5"/>
                </a:solidFill>
                <a:latin typeface="Segoe UI"/>
              </a:rPr>
              <a:t>Что улучшил бы при большем времени</a:t>
            </a:r>
          </a:p>
          <a:p>
            <a:pPr algn="l"/>
            <a:r>
              <a:rPr sz="500" b="0">
                <a:solidFill>
                  <a:srgbClr val="171C2B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Больше KZ-данных (бизнес-домен) и более крупная модель для нюансов (ирония, отрицание)</a:t>
            </a:r>
          </a:p>
          <a:p>
            <a:pPr algn="l"/>
            <a:r>
              <a:rPr sz="1600" b="0">
                <a:solidFill>
                  <a:srgbClr val="171C2B"/>
                </a:solidFill>
                <a:latin typeface="Segoe UI"/>
              </a:rPr>
              <a:t>•  RAG: LLM ссылалась бы на базу знаний о заведении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